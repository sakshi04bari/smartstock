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64" r:id="rId4"/>
    <p:sldId id="262" r:id="rId5"/>
    <p:sldId id="259" r:id="rId6"/>
    <p:sldId id="258" r:id="rId7"/>
    <p:sldId id="265" r:id="rId8"/>
    <p:sldId id="263"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66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9071EB-33D8-4186-BDCD-2B0465E0A3D6}"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72109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071EB-33D8-4186-BDCD-2B0465E0A3D6}"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4232034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9071EB-33D8-4186-BDCD-2B0465E0A3D6}"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1814586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76476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9071EB-33D8-4186-BDCD-2B0465E0A3D6}"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768777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9071EB-33D8-4186-BDCD-2B0465E0A3D6}"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1956699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071EB-33D8-4186-BDCD-2B0465E0A3D6}" type="datetimeFigureOut">
              <a:rPr lang="en-IN" smtClean="0"/>
              <a:t>03-01-2026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198548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37592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434745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07359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106426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030860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071EB-33D8-4186-BDCD-2B0465E0A3D6}"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3036379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9071EB-33D8-4186-BDCD-2B0465E0A3D6}"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3805441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9071EB-33D8-4186-BDCD-2B0465E0A3D6}"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024228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071EB-33D8-4186-BDCD-2B0465E0A3D6}"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4276331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071EB-33D8-4186-BDCD-2B0465E0A3D6}"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FF4C97-3405-4F44-B4D0-1523F739CF0A}" type="slidenum">
              <a:rPr lang="en-IN" smtClean="0"/>
              <a:t>‹#›</a:t>
            </a:fld>
            <a:endParaRPr lang="en-IN"/>
          </a:p>
        </p:txBody>
      </p:sp>
    </p:spTree>
    <p:extLst>
      <p:ext uri="{BB962C8B-B14F-4D97-AF65-F5344CB8AC3E}">
        <p14:creationId xmlns:p14="http://schemas.microsoft.com/office/powerpoint/2010/main" val="2487120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49071EB-33D8-4186-BDCD-2B0465E0A3D6}" type="datetimeFigureOut">
              <a:rPr lang="en-IN" smtClean="0"/>
              <a:t>03-01-2026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4FF4C97-3405-4F44-B4D0-1523F739CF0A}" type="slidenum">
              <a:rPr lang="en-IN" smtClean="0"/>
              <a:t>‹#›</a:t>
            </a:fld>
            <a:endParaRPr lang="en-IN"/>
          </a:p>
        </p:txBody>
      </p:sp>
    </p:spTree>
    <p:extLst>
      <p:ext uri="{BB962C8B-B14F-4D97-AF65-F5344CB8AC3E}">
        <p14:creationId xmlns:p14="http://schemas.microsoft.com/office/powerpoint/2010/main" val="3803492445"/>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7EB4A3-F89B-B261-E013-D64A3ECF44EA}"/>
              </a:ext>
            </a:extLst>
          </p:cNvPr>
          <p:cNvSpPr>
            <a:spLocks noGrp="1"/>
          </p:cNvSpPr>
          <p:nvPr>
            <p:ph type="ctrTitle"/>
          </p:nvPr>
        </p:nvSpPr>
        <p:spPr>
          <a:xfrm>
            <a:off x="2688165" y="2671233"/>
            <a:ext cx="6815669" cy="1515533"/>
          </a:xfrm>
        </p:spPr>
        <p:txBody>
          <a:bodyPr>
            <a:normAutofit fontScale="90000"/>
          </a:bodyPr>
          <a:lstStyle/>
          <a:p>
            <a:r>
              <a:rPr lang="en-IN" sz="4800" b="1" dirty="0">
                <a:latin typeface="Times New Roman" panose="02020603050405020304" pitchFamily="18" charset="0"/>
                <a:cs typeface="Times New Roman" panose="02020603050405020304" pitchFamily="18" charset="0"/>
              </a:rPr>
              <a:t>Smart Stock Inventory Optimization For Retail Stores</a:t>
            </a:r>
          </a:p>
        </p:txBody>
      </p:sp>
    </p:spTree>
    <p:extLst>
      <p:ext uri="{BB962C8B-B14F-4D97-AF65-F5344CB8AC3E}">
        <p14:creationId xmlns:p14="http://schemas.microsoft.com/office/powerpoint/2010/main" val="973255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4CB768E-A0D5-475F-16A6-602F1FBDE619}"/>
              </a:ext>
            </a:extLst>
          </p:cNvPr>
          <p:cNvSpPr txBox="1"/>
          <p:nvPr/>
        </p:nvSpPr>
        <p:spPr>
          <a:xfrm>
            <a:off x="904568" y="1292698"/>
            <a:ext cx="9606115" cy="2031325"/>
          </a:xfrm>
          <a:prstGeom prst="rect">
            <a:avLst/>
          </a:prstGeom>
          <a:noFill/>
        </p:spPr>
        <p:txBody>
          <a:bodyPr wrap="square">
            <a:spAutoFit/>
          </a:bodyPr>
          <a:lstStyle/>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Smart Stock is an ML-based system that predicts future product demand in retail stores by analyzing historical sales data and trends. It helps reduce stockouts and overstock by suggesting accurate stock levels, improving both customer satisfaction and inventory costs. The system uses the Random Forest algorithm for reliable and accurate demand forecasting. The backend is built using Flask for API handling, while the frontend uses HTML/CSS for a simple user interface. The model is trained on a Kaggle dataset containing historical retail sales.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55091D54-DDEE-D8B0-15CC-74136D818251}"/>
              </a:ext>
            </a:extLst>
          </p:cNvPr>
          <p:cNvSpPr txBox="1"/>
          <p:nvPr/>
        </p:nvSpPr>
        <p:spPr>
          <a:xfrm>
            <a:off x="904568" y="707923"/>
            <a:ext cx="3175820" cy="584775"/>
          </a:xfrm>
          <a:prstGeom prst="rect">
            <a:avLst/>
          </a:prstGeom>
          <a:noFill/>
        </p:spPr>
        <p:txBody>
          <a:bodyPr wrap="square" rtlCol="0">
            <a:spAutoFit/>
          </a:bodyPr>
          <a:lstStyle/>
          <a:p>
            <a:pPr marL="457200" indent="-457200">
              <a:buFont typeface="Wingdings" panose="05000000000000000000" pitchFamily="2" charset="2"/>
              <a:buChar char="q"/>
            </a:pPr>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745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908DA08-DB0C-D891-94DB-70468F810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8564" y="1130709"/>
            <a:ext cx="6894872" cy="4596581"/>
          </a:xfrm>
          <a:prstGeom prst="rect">
            <a:avLst/>
          </a:prstGeom>
        </p:spPr>
      </p:pic>
    </p:spTree>
    <p:extLst>
      <p:ext uri="{BB962C8B-B14F-4D97-AF65-F5344CB8AC3E}">
        <p14:creationId xmlns:p14="http://schemas.microsoft.com/office/powerpoint/2010/main" val="3976919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5450DF33-301C-4065-2F9D-26A89D0AAF7C}"/>
              </a:ext>
            </a:extLst>
          </p:cNvPr>
          <p:cNvSpPr txBox="1"/>
          <p:nvPr/>
        </p:nvSpPr>
        <p:spPr>
          <a:xfrm>
            <a:off x="1042218" y="426794"/>
            <a:ext cx="8308258" cy="5386090"/>
          </a:xfrm>
          <a:prstGeom prst="rect">
            <a:avLst/>
          </a:prstGeom>
          <a:noFill/>
        </p:spPr>
        <p:txBody>
          <a:bodyPr wrap="square">
            <a:spAutoFit/>
          </a:bodyPr>
          <a:lstStyle/>
          <a:p>
            <a:pPr marL="457200" indent="-457200">
              <a:buFont typeface="Wingdings" panose="05000000000000000000" pitchFamily="2" charset="2"/>
              <a:buChar char="q"/>
            </a:pPr>
            <a:endParaRPr lang="en-IN"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Tech Stack Used</a:t>
            </a:r>
          </a:p>
          <a:p>
            <a:endParaRPr lang="en-IN" sz="2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Frontend</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HTML5</a:t>
            </a:r>
            <a:r>
              <a:rPr lang="en-IN" sz="2000" dirty="0">
                <a:latin typeface="Times New Roman" panose="02020603050405020304" pitchFamily="18" charset="0"/>
                <a:cs typeface="Times New Roman" panose="02020603050405020304" pitchFamily="18" charset="0"/>
              </a:rPr>
              <a:t> – Basic structure of the user interface</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CSS3</a:t>
            </a:r>
            <a:r>
              <a:rPr lang="en-IN" sz="2000" dirty="0">
                <a:latin typeface="Times New Roman" panose="02020603050405020304" pitchFamily="18" charset="0"/>
                <a:cs typeface="Times New Roman" panose="02020603050405020304" pitchFamily="18" charset="0"/>
              </a:rPr>
              <a:t> – Styling, layout, and clean UI design</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JavaScript</a:t>
            </a:r>
            <a:r>
              <a:rPr lang="en-IN" sz="2000" dirty="0">
                <a:latin typeface="Times New Roman" panose="02020603050405020304" pitchFamily="18" charset="0"/>
                <a:cs typeface="Times New Roman" panose="02020603050405020304" pitchFamily="18" charset="0"/>
              </a:rPr>
              <a:t> – API calls to Flask backend and dynamic output display</a:t>
            </a:r>
          </a:p>
          <a:p>
            <a:pPr>
              <a:buNone/>
            </a:pP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Backend</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Flask (Python)</a:t>
            </a:r>
            <a:r>
              <a:rPr lang="en-IN" sz="2000" dirty="0">
                <a:latin typeface="Times New Roman" panose="02020603050405020304" pitchFamily="18" charset="0"/>
                <a:cs typeface="Times New Roman" panose="02020603050405020304" pitchFamily="18" charset="0"/>
              </a:rPr>
              <a:t> – Handles APIs for prediction and model training</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REST API</a:t>
            </a:r>
            <a:r>
              <a:rPr lang="en-IN" sz="2000" dirty="0">
                <a:latin typeface="Times New Roman" panose="02020603050405020304" pitchFamily="18" charset="0"/>
                <a:cs typeface="Times New Roman" panose="02020603050405020304" pitchFamily="18" charset="0"/>
              </a:rPr>
              <a:t> – For sending and receiving JSON data between UI and backend</a:t>
            </a:r>
          </a:p>
          <a:p>
            <a:pPr>
              <a:buNone/>
            </a:pP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Machine Learning</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Python (NumPy, Pandas)</a:t>
            </a:r>
            <a:r>
              <a:rPr lang="en-IN" sz="2000" dirty="0">
                <a:latin typeface="Times New Roman" panose="02020603050405020304" pitchFamily="18" charset="0"/>
                <a:cs typeface="Times New Roman" panose="02020603050405020304" pitchFamily="18" charset="0"/>
              </a:rPr>
              <a:t> – Data preprocessing and feature engineering</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Scikit-learn</a:t>
            </a:r>
            <a:r>
              <a:rPr lang="en-IN" sz="2000" dirty="0">
                <a:latin typeface="Times New Roman" panose="02020603050405020304" pitchFamily="18" charset="0"/>
                <a:cs typeface="Times New Roman" panose="02020603050405020304" pitchFamily="18" charset="0"/>
              </a:rPr>
              <a:t> – Random Forest training, evaluation, and prediction</a:t>
            </a:r>
          </a:p>
          <a:p>
            <a:pPr>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Joblib</a:t>
            </a:r>
            <a:r>
              <a:rPr lang="en-IN" sz="2000" dirty="0">
                <a:latin typeface="Times New Roman" panose="02020603050405020304" pitchFamily="18" charset="0"/>
                <a:cs typeface="Times New Roman" panose="02020603050405020304" pitchFamily="18" charset="0"/>
              </a:rPr>
              <a:t> – Saving and loading the trained ML model (</a:t>
            </a:r>
            <a:r>
              <a:rPr lang="en-IN" sz="2000" dirty="0" err="1">
                <a:latin typeface="Times New Roman" panose="02020603050405020304" pitchFamily="18" charset="0"/>
                <a:cs typeface="Times New Roman" panose="02020603050405020304" pitchFamily="18" charset="0"/>
              </a:rPr>
              <a:t>smartstock_model.pkl</a:t>
            </a:r>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33345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3384BBE-4E3E-E9EC-DD6D-D55E9AAD1DCC}"/>
              </a:ext>
            </a:extLst>
          </p:cNvPr>
          <p:cNvSpPr txBox="1"/>
          <p:nvPr/>
        </p:nvSpPr>
        <p:spPr>
          <a:xfrm>
            <a:off x="993058" y="955131"/>
            <a:ext cx="10402529" cy="3600986"/>
          </a:xfrm>
          <a:prstGeom prst="rect">
            <a:avLst/>
          </a:prstGeom>
          <a:noFill/>
        </p:spPr>
        <p:txBody>
          <a:bodyPr wrap="square">
            <a:spAutoFit/>
          </a:bodyPr>
          <a:lstStyle/>
          <a:p>
            <a:pPr marL="342900"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Machine Learning Algorithm </a:t>
            </a:r>
          </a:p>
          <a:p>
            <a:pPr>
              <a:buNone/>
            </a:pPr>
            <a:endParaRPr lang="en-US"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Regressor is the main ML model used for predicting product demand.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builds multiple decision trees and combines their results for higher accuracy.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noisy and seasonal retail sales data better than a single model.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Learns patterns based on store ID, item ID, date (day, month, year), and past sales.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Manages missing values and outliers effectively without major preprocessing.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Produces stable predictions even with large datasets.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Achieved low RMSE, showing good prediction performance.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Final trained model is saved as </a:t>
            </a:r>
            <a:r>
              <a:rPr lang="en-US" b="1" dirty="0">
                <a:latin typeface="Times New Roman" panose="02020603050405020304" pitchFamily="18" charset="0"/>
                <a:cs typeface="Times New Roman" panose="02020603050405020304" pitchFamily="18" charset="0"/>
              </a:rPr>
              <a:t>smartstock_model.pkl</a:t>
            </a:r>
            <a:r>
              <a:rPr lang="en-US" dirty="0">
                <a:latin typeface="Times New Roman" panose="02020603050405020304" pitchFamily="18" charset="0"/>
                <a:cs typeface="Times New Roman" panose="02020603050405020304" pitchFamily="18" charset="0"/>
              </a:rPr>
              <a:t> and used by Flask for real-time forecasting.</a:t>
            </a:r>
          </a:p>
          <a:p>
            <a:pPr>
              <a:buNone/>
            </a:pP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561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D8A709B-A5D9-FE29-508F-EC2C9BFD2404}"/>
              </a:ext>
            </a:extLst>
          </p:cNvPr>
          <p:cNvSpPr txBox="1"/>
          <p:nvPr/>
        </p:nvSpPr>
        <p:spPr>
          <a:xfrm>
            <a:off x="993058" y="3262218"/>
            <a:ext cx="6096000" cy="2215991"/>
          </a:xfrm>
          <a:prstGeom prst="rect">
            <a:avLst/>
          </a:prstGeom>
          <a:noFill/>
        </p:spPr>
        <p:txBody>
          <a:bodyPr wrap="square">
            <a:spAutoFit/>
          </a:bodyPr>
          <a:lstStyle/>
          <a:p>
            <a:pPr marL="342900" indent="-34290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Work Completed </a:t>
            </a:r>
          </a:p>
          <a:p>
            <a:pPr>
              <a:buNone/>
            </a:pPr>
            <a:endParaRPr lang="en-IN"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Collected problem statement &amp; requirements.</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Downloaded Kaggle dataset (single CSV).</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Performed data cleaning &amp; preprocessing.</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Completed Exploratory Data Analysis (EDA).</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Trained baseline Random Forest model.</a:t>
            </a:r>
          </a:p>
        </p:txBody>
      </p:sp>
      <p:sp>
        <p:nvSpPr>
          <p:cNvPr id="7" name="TextBox 6">
            <a:extLst>
              <a:ext uri="{FF2B5EF4-FFF2-40B4-BE49-F238E27FC236}">
                <a16:creationId xmlns:a16="http://schemas.microsoft.com/office/drawing/2014/main" xmlns="" id="{BFBE180D-A3DC-8A8C-8FF3-99DD1DE7E54B}"/>
              </a:ext>
            </a:extLst>
          </p:cNvPr>
          <p:cNvSpPr txBox="1"/>
          <p:nvPr/>
        </p:nvSpPr>
        <p:spPr>
          <a:xfrm>
            <a:off x="993058" y="844330"/>
            <a:ext cx="6096000" cy="2062103"/>
          </a:xfrm>
          <a:prstGeom prst="rect">
            <a:avLst/>
          </a:prstGeom>
          <a:noFill/>
        </p:spPr>
        <p:txBody>
          <a:bodyPr wrap="square">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Dataset Details</a:t>
            </a:r>
          </a:p>
          <a:p>
            <a:pPr>
              <a:buNone/>
            </a:pPr>
            <a:endParaRPr lang="en-US" sz="2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Dataset from Kaggle (Store Item Demand Forecasting).</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Contains one CSV file with date, store, item, sales.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Time-series structured data.</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Used for demand prediction and trend analysis.</a:t>
            </a:r>
          </a:p>
        </p:txBody>
      </p:sp>
    </p:spTree>
    <p:extLst>
      <p:ext uri="{BB962C8B-B14F-4D97-AF65-F5344CB8AC3E}">
        <p14:creationId xmlns:p14="http://schemas.microsoft.com/office/powerpoint/2010/main" val="647306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20928D8-689C-0949-4039-B0B51B198721}"/>
              </a:ext>
            </a:extLst>
          </p:cNvPr>
          <p:cNvSpPr txBox="1"/>
          <p:nvPr/>
        </p:nvSpPr>
        <p:spPr>
          <a:xfrm>
            <a:off x="1061885" y="1213009"/>
            <a:ext cx="8426244" cy="2492990"/>
          </a:xfrm>
          <a:prstGeom prst="rect">
            <a:avLst/>
          </a:prstGeom>
          <a:noFill/>
        </p:spPr>
        <p:txBody>
          <a:bodyPr wrap="square">
            <a:spAutoFit/>
          </a:bodyPr>
          <a:lstStyle/>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Key Modules in the Project</a:t>
            </a:r>
          </a:p>
          <a:p>
            <a:pPr>
              <a:buNone/>
            </a:pPr>
            <a:endParaRPr lang="en-IN" sz="28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Preprocessing Module</a:t>
            </a:r>
            <a:r>
              <a:rPr lang="en-IN" sz="2000" dirty="0">
                <a:latin typeface="Times New Roman" panose="02020603050405020304" pitchFamily="18" charset="0"/>
                <a:cs typeface="Times New Roman" panose="02020603050405020304" pitchFamily="18" charset="0"/>
              </a:rPr>
              <a:t> – Cleans and transforms raw data.</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ML Training Module</a:t>
            </a:r>
            <a:r>
              <a:rPr lang="en-IN" sz="2000" dirty="0">
                <a:latin typeface="Times New Roman" panose="02020603050405020304" pitchFamily="18" charset="0"/>
                <a:cs typeface="Times New Roman" panose="02020603050405020304" pitchFamily="18" charset="0"/>
              </a:rPr>
              <a:t> – Trains Random Forest on historical sales.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Prediction Module</a:t>
            </a:r>
            <a:r>
              <a:rPr lang="en-IN" sz="2000" dirty="0">
                <a:latin typeface="Times New Roman" panose="02020603050405020304" pitchFamily="18" charset="0"/>
                <a:cs typeface="Times New Roman" panose="02020603050405020304" pitchFamily="18" charset="0"/>
              </a:rPr>
              <a:t> – Generates demand prediction from input.</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API Layer (Flask)</a:t>
            </a:r>
            <a:r>
              <a:rPr lang="en-IN" sz="2000" dirty="0">
                <a:latin typeface="Times New Roman" panose="02020603050405020304" pitchFamily="18" charset="0"/>
                <a:cs typeface="Times New Roman" panose="02020603050405020304" pitchFamily="18" charset="0"/>
              </a:rPr>
              <a:t> – Communicates between UI and model.</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User Interface Module</a:t>
            </a:r>
            <a:r>
              <a:rPr lang="en-IN" sz="2000" dirty="0">
                <a:latin typeface="Times New Roman" panose="02020603050405020304" pitchFamily="18" charset="0"/>
                <a:cs typeface="Times New Roman" panose="02020603050405020304" pitchFamily="18" charset="0"/>
              </a:rPr>
              <a:t> – Takes input and displays results.</a:t>
            </a:r>
          </a:p>
        </p:txBody>
      </p:sp>
    </p:spTree>
    <p:extLst>
      <p:ext uri="{BB962C8B-B14F-4D97-AF65-F5344CB8AC3E}">
        <p14:creationId xmlns:p14="http://schemas.microsoft.com/office/powerpoint/2010/main" val="126547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3F1FE94-9F8B-ED70-450E-DCDDCFB9DB4B}"/>
              </a:ext>
            </a:extLst>
          </p:cNvPr>
          <p:cNvSpPr txBox="1"/>
          <p:nvPr/>
        </p:nvSpPr>
        <p:spPr>
          <a:xfrm>
            <a:off x="1101213" y="1022556"/>
            <a:ext cx="8052619" cy="2308324"/>
          </a:xfrm>
          <a:prstGeom prst="rect">
            <a:avLst/>
          </a:prstGeom>
          <a:noFill/>
        </p:spPr>
        <p:txBody>
          <a:bodyPr wrap="square">
            <a:spAutoFit/>
          </a:bodyPr>
          <a:lstStyle/>
          <a:p>
            <a:pPr marL="457200" indent="-457200">
              <a:buFont typeface="Wingdings" panose="05000000000000000000" pitchFamily="2" charset="2"/>
              <a:buChar char="q"/>
            </a:pPr>
            <a:r>
              <a:rPr lang="en-IN" sz="3200" b="1" dirty="0">
                <a:latin typeface="Times New Roman" panose="02020603050405020304" pitchFamily="18" charset="0"/>
                <a:cs typeface="Times New Roman" panose="02020603050405020304" pitchFamily="18" charset="0"/>
              </a:rPr>
              <a:t>Future Enhancements</a:t>
            </a:r>
          </a:p>
          <a:p>
            <a:pPr>
              <a:buNone/>
            </a:pPr>
            <a:endParaRPr lang="en-IN" sz="32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Integrate with MySQL for storing demand history.</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 product-level alerts for reordering.</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Deploy on Render</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 mobile-friendly version.</a:t>
            </a:r>
          </a:p>
        </p:txBody>
      </p:sp>
    </p:spTree>
    <p:extLst>
      <p:ext uri="{BB962C8B-B14F-4D97-AF65-F5344CB8AC3E}">
        <p14:creationId xmlns:p14="http://schemas.microsoft.com/office/powerpoint/2010/main" val="470460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0685EA86-A3A2-8DF0-6FA1-93D91E839217}"/>
              </a:ext>
            </a:extLst>
          </p:cNvPr>
          <p:cNvSpPr txBox="1"/>
          <p:nvPr/>
        </p:nvSpPr>
        <p:spPr>
          <a:xfrm>
            <a:off x="1" y="2659559"/>
            <a:ext cx="12191999"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8852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58</TotalTime>
  <Words>391</Words>
  <Application>Microsoft Office PowerPoint</Application>
  <PresentationFormat>Widescreen</PresentationFormat>
  <Paragraphs>55</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Calisto MT</vt:lpstr>
      <vt:lpstr>Times New Roman</vt:lpstr>
      <vt:lpstr>Trebuchet MS</vt:lpstr>
      <vt:lpstr>Wingdings</vt:lpstr>
      <vt:lpstr>Wingdings 2</vt:lpstr>
      <vt:lpstr>Slate</vt:lpstr>
      <vt:lpstr>Smart Stock Inventory Optimization For Retail Stores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Stock Inventory Optimization For Retail Stores</dc:title>
  <dc:creator>sakshi bari</dc:creator>
  <cp:lastModifiedBy>HP</cp:lastModifiedBy>
  <cp:revision>3</cp:revision>
  <dcterms:created xsi:type="dcterms:W3CDTF">2025-11-20T13:13:58Z</dcterms:created>
  <dcterms:modified xsi:type="dcterms:W3CDTF">2026-01-03T12:34:03Z</dcterms:modified>
</cp:coreProperties>
</file>